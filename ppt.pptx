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Welcome! This is RecruitIQ — an AI Agent Swarm that automates hiring. Built for Microsoft Build AI Hackathon 2026 on the Agent Swarms track.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problem: Manual hiring is slow, biased, and expensive. Our solution cuts 10+ hours of HR work down to under 60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agent has a specific job. They pass data to each other like a relay team — JD → Resume → Rank → Email.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workflow is designed to be zero-friction for HR teams. No training needed — if you can use email, you can use RecruitIQ.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chose GitHub Models because it gives free access to GPT-4o and is 100% a Microsoft product — perfect for this hackathon.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shows the business case. The Q&amp;A here addresses the most common question judges will ask.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differentiator: Agent Swarms track wants to see real agent orchestration — not just calling GPT once. We built that.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shows judges we're thinking beyond the hackathon. The Azure Foundry integration in Phase 2 keeps it on the Microsoft ecosystem.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during live Q&amp;A. These are the most common questions judges ask at Microsoft hackathons.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confidence. Offer a live demo if judges want to see the app running.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4206240" cy="5070348"/>
          </a:xfrm>
          <a:prstGeom prst="rect">
            <a:avLst/>
          </a:prstGeom>
          <a:solidFill>
            <a:srgbClr val="16203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548640"/>
            <a:ext cx="1280160" cy="1280160"/>
          </a:xfrm>
          <a:prstGeom prst="ellipse">
            <a:avLst/>
          </a:prstGeom>
          <a:solidFill>
            <a:srgbClr val="1A73E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54864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⚡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365760" y="192024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RecruitIQ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365760" y="301752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A8B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Swarm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A8B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Smart Hiring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0" y="64008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 OF RECRUITMENT IS HERE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0" y="1234440"/>
            <a:ext cx="4114800" cy="594360"/>
          </a:xfrm>
          <a:prstGeom prst="roundRect">
            <a:avLst>
              <a:gd name="adj" fmla="val 12308"/>
            </a:avLst>
          </a:prstGeom>
          <a:solidFill>
            <a:srgbClr val="1E3560"/>
          </a:solidFill>
          <a:ln/>
        </p:spPr>
      </p:sp>
      <p:sp>
        <p:nvSpPr>
          <p:cNvPr id="10" name="Text 8"/>
          <p:cNvSpPr/>
          <p:nvPr/>
        </p:nvSpPr>
        <p:spPr>
          <a:xfrm>
            <a:off x="4709160" y="123444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JD Analyzer Agent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0" y="1828800"/>
            <a:ext cx="4572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73E8"/>
                </a:solidFill>
              </a:rPr>
              <a:t>↓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0" y="2039112"/>
            <a:ext cx="4114800" cy="594360"/>
          </a:xfrm>
          <a:prstGeom prst="roundRect">
            <a:avLst>
              <a:gd name="adj" fmla="val 12308"/>
            </a:avLst>
          </a:prstGeom>
          <a:solidFill>
            <a:srgbClr val="1E3560"/>
          </a:solidFill>
          <a:ln/>
        </p:spPr>
      </p:sp>
      <p:sp>
        <p:nvSpPr>
          <p:cNvPr id="13" name="Text 11"/>
          <p:cNvSpPr/>
          <p:nvPr/>
        </p:nvSpPr>
        <p:spPr>
          <a:xfrm>
            <a:off x="4709160" y="2039112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Resume Screener Agent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0" y="2633472"/>
            <a:ext cx="4572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73E8"/>
                </a:solidFill>
              </a:rPr>
              <a:t>↓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0" y="2843784"/>
            <a:ext cx="4114800" cy="594360"/>
          </a:xfrm>
          <a:prstGeom prst="roundRect">
            <a:avLst>
              <a:gd name="adj" fmla="val 12308"/>
            </a:avLst>
          </a:prstGeom>
          <a:solidFill>
            <a:srgbClr val="1E3560"/>
          </a:solidFill>
          <a:ln/>
        </p:spPr>
      </p:sp>
      <p:sp>
        <p:nvSpPr>
          <p:cNvPr id="16" name="Text 14"/>
          <p:cNvSpPr/>
          <p:nvPr/>
        </p:nvSpPr>
        <p:spPr>
          <a:xfrm>
            <a:off x="4709160" y="2843784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Ranking Agent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0" y="3438144"/>
            <a:ext cx="4572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73E8"/>
                </a:solidFill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0" y="3648456"/>
            <a:ext cx="4114800" cy="594360"/>
          </a:xfrm>
          <a:prstGeom prst="roundRect">
            <a:avLst>
              <a:gd name="adj" fmla="val 12308"/>
            </a:avLst>
          </a:prstGeom>
          <a:solidFill>
            <a:srgbClr val="1E3560"/>
          </a:solidFill>
          <a:ln/>
        </p:spPr>
      </p:sp>
      <p:sp>
        <p:nvSpPr>
          <p:cNvPr id="19" name="Text 17"/>
          <p:cNvSpPr/>
          <p:nvPr/>
        </p:nvSpPr>
        <p:spPr>
          <a:xfrm>
            <a:off x="4709160" y="3648456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Email Drafter Agent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0" y="4572000"/>
            <a:ext cx="4114800" cy="320040"/>
          </a:xfrm>
          <a:prstGeom prst="roundRect">
            <a:avLst>
              <a:gd name="adj" fmla="val 17143"/>
            </a:avLst>
          </a:prstGeom>
          <a:solidFill>
            <a:srgbClr val="1A73E8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0" y="45720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Microsoft Build AI Hackathon 2026  |  Track: Agent Swarms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5760" y="46634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CC8"/>
                </a:solidFill>
              </a:rPr>
              <a:t>github.com/VarshithaR-06/recruitiq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❓  The Problem We're Solving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E8F0FE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051560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 How long does it currently take an HR team to screen 50 resumes for one job opening?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783080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E0F2F1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828800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5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 On average 6–8 hours — plus follow-up emails, scheduling, and decision meetings add another 4 hours.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651760"/>
            <a:ext cx="1965960" cy="224028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24128" y="2788920"/>
            <a:ext cx="658368" cy="658368"/>
          </a:xfrm>
          <a:prstGeom prst="ellipse">
            <a:avLst/>
          </a:prstGeom>
          <a:solidFill>
            <a:srgbClr val="FFEBEE"/>
          </a:solidFill>
          <a:ln/>
        </p:spPr>
      </p:sp>
      <p:sp>
        <p:nvSpPr>
          <p:cNvPr id="10" name="Text 8"/>
          <p:cNvSpPr/>
          <p:nvPr/>
        </p:nvSpPr>
        <p:spPr>
          <a:xfrm>
            <a:off x="1024128" y="278892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⏳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5760" y="3547872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32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6-8 hrs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7200" y="4023360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screen 50 resumes manually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87168" y="2651760"/>
            <a:ext cx="1965960" cy="224028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45536" y="2788920"/>
            <a:ext cx="658368" cy="658368"/>
          </a:xfrm>
          <a:prstGeom prst="ellipse">
            <a:avLst/>
          </a:prstGeom>
          <a:solidFill>
            <a:srgbClr val="FFF3E0"/>
          </a:solidFill>
          <a:ln/>
        </p:spPr>
      </p:sp>
      <p:sp>
        <p:nvSpPr>
          <p:cNvPr id="15" name="Text 13"/>
          <p:cNvSpPr/>
          <p:nvPr/>
        </p:nvSpPr>
        <p:spPr>
          <a:xfrm>
            <a:off x="3145536" y="278892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⚖️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487168" y="3547872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7C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Bias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2578608" y="4023360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scoring across candidates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08576" y="2651760"/>
            <a:ext cx="1965960" cy="224028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266944" y="2788920"/>
            <a:ext cx="658368" cy="658368"/>
          </a:xfrm>
          <a:prstGeom prst="ellipse">
            <a:avLst/>
          </a:prstGeom>
          <a:solidFill>
            <a:srgbClr val="E8F0FE"/>
          </a:solidFill>
          <a:ln/>
        </p:spPr>
      </p:sp>
      <p:sp>
        <p:nvSpPr>
          <p:cNvPr id="20" name="Text 18"/>
          <p:cNvSpPr/>
          <p:nvPr/>
        </p:nvSpPr>
        <p:spPr>
          <a:xfrm>
            <a:off x="5266944" y="278892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📭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608576" y="3547872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73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Ghosting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700016" y="4023360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 wait weeks with no reply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729984" y="2651760"/>
            <a:ext cx="1965960" cy="224028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388352" y="2788920"/>
            <a:ext cx="658368" cy="658368"/>
          </a:xfrm>
          <a:prstGeom prst="ellipse">
            <a:avLst/>
          </a:prstGeom>
          <a:solidFill>
            <a:srgbClr val="E0F2F1"/>
          </a:solidFill>
          <a:ln/>
        </p:spPr>
      </p:sp>
      <p:sp>
        <p:nvSpPr>
          <p:cNvPr id="25" name="Text 23"/>
          <p:cNvSpPr/>
          <p:nvPr/>
        </p:nvSpPr>
        <p:spPr>
          <a:xfrm>
            <a:off x="7388352" y="278892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💸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729984" y="3547872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89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30% salary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821424" y="4023360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a single bad hire to company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💡  Our Solution — 4 Agents, 1 Click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A8B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RecruitIQ deploys a swarm of 4 specialized AI agents that collaborate to automate your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A8B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 hiring pipeline — from job description to candidate emails — in under 60 seconds.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828800"/>
            <a:ext cx="2011680" cy="3017520"/>
          </a:xfrm>
          <a:prstGeom prst="roundRect">
            <a:avLst>
              <a:gd name="adj" fmla="val 5455"/>
            </a:avLst>
          </a:prstGeom>
          <a:solidFill>
            <a:srgbClr val="1A4A7A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28600" y="19202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1A73E8"/>
                </a:solidFill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28600" y="21945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28600" y="27889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JD Analyzer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3218688"/>
            <a:ext cx="1463040" cy="27432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10" name="Text 8"/>
          <p:cNvSpPr/>
          <p:nvPr/>
        </p:nvSpPr>
        <p:spPr>
          <a:xfrm>
            <a:off x="338328" y="3337560"/>
            <a:ext cx="1810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FDF"/>
                </a:solidFill>
              </a:rPr>
              <a:t>• Reads full job description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38328" y="3685032"/>
            <a:ext cx="1810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FDF"/>
                </a:solidFill>
              </a:rPr>
              <a:t>• Extracts required skills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38328" y="4032504"/>
            <a:ext cx="1810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FDF"/>
                </a:solidFill>
              </a:rPr>
              <a:t>• Identifies experience level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38328" y="4379976"/>
            <a:ext cx="1810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FDF"/>
                </a:solidFill>
              </a:rPr>
              <a:t>• Defines must-have qualifications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240280" y="310896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73E8"/>
                </a:solidFill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423160" y="1828800"/>
            <a:ext cx="2011680" cy="3017520"/>
          </a:xfrm>
          <a:prstGeom prst="roundRect">
            <a:avLst>
              <a:gd name="adj" fmla="val 5455"/>
            </a:avLst>
          </a:prstGeom>
          <a:solidFill>
            <a:srgbClr val="004D40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423160" y="19202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00897B"/>
                </a:solidFill>
              </a:rPr>
              <a:t>02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423160" y="21945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2423160" y="27889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Resume Screener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697480" y="3218688"/>
            <a:ext cx="1463040" cy="27432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20" name="Text 18"/>
          <p:cNvSpPr/>
          <p:nvPr/>
        </p:nvSpPr>
        <p:spPr>
          <a:xfrm>
            <a:off x="2532888" y="3337560"/>
            <a:ext cx="1810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FDF"/>
                </a:solidFill>
              </a:rPr>
              <a:t>• Reads each PDF/TXT resume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532888" y="3685032"/>
            <a:ext cx="1810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FDF"/>
                </a:solidFill>
              </a:rPr>
              <a:t>• Matches against JD criteria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532888" y="4032504"/>
            <a:ext cx="1810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FDF"/>
                </a:solidFill>
              </a:rPr>
              <a:t>• Gives match score out of 100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532888" y="4379976"/>
            <a:ext cx="1810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FDF"/>
                </a:solidFill>
              </a:rPr>
              <a:t>• Highlights gaps &amp; strengths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434840" y="310896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897B"/>
                </a:solidFill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617720" y="1828800"/>
            <a:ext cx="2011680" cy="3017520"/>
          </a:xfrm>
          <a:prstGeom prst="roundRect">
            <a:avLst>
              <a:gd name="adj" fmla="val 5455"/>
            </a:avLst>
          </a:prstGeom>
          <a:solidFill>
            <a:srgbClr val="1A4A7A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617720" y="19202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1A73E8"/>
                </a:solidFill>
              </a:rPr>
              <a:t>03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617720" y="21945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4617720" y="27889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Ranking Agent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892040" y="3218688"/>
            <a:ext cx="1463040" cy="27432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30" name="Text 28"/>
          <p:cNvSpPr/>
          <p:nvPr/>
        </p:nvSpPr>
        <p:spPr>
          <a:xfrm>
            <a:off x="4727448" y="3337560"/>
            <a:ext cx="1810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FDF"/>
                </a:solidFill>
              </a:rPr>
              <a:t>• Compares all candidates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727448" y="3685032"/>
            <a:ext cx="1810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FDF"/>
                </a:solidFill>
              </a:rPr>
              <a:t>• Ranks best to worst fit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727448" y="4032504"/>
            <a:ext cx="1810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FDF"/>
                </a:solidFill>
              </a:rPr>
              <a:t>• Provides reasoning per rank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727448" y="4379976"/>
            <a:ext cx="1810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FDF"/>
                </a:solidFill>
              </a:rPr>
              <a:t>• Flags top 3 for interview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629400" y="310896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73E8"/>
                </a:solidFill>
              </a:rPr>
              <a:t>→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812280" y="1828800"/>
            <a:ext cx="2011680" cy="3017520"/>
          </a:xfrm>
          <a:prstGeom prst="roundRect">
            <a:avLst>
              <a:gd name="adj" fmla="val 5455"/>
            </a:avLst>
          </a:prstGeom>
          <a:solidFill>
            <a:srgbClr val="004D40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812280" y="19202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00897B"/>
                </a:solidFill>
              </a:rPr>
              <a:t>04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812280" y="21945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📧</a:t>
            </a:r>
            <a:endParaRPr lang="en-US" sz="2800" dirty="0"/>
          </a:p>
        </p:txBody>
      </p:sp>
      <p:sp>
        <p:nvSpPr>
          <p:cNvPr id="38" name="Text 36"/>
          <p:cNvSpPr/>
          <p:nvPr/>
        </p:nvSpPr>
        <p:spPr>
          <a:xfrm>
            <a:off x="6812280" y="27889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Email Agent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7086600" y="3218688"/>
            <a:ext cx="1463040" cy="27432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40" name="Text 38"/>
          <p:cNvSpPr/>
          <p:nvPr/>
        </p:nvSpPr>
        <p:spPr>
          <a:xfrm>
            <a:off x="6922008" y="3337560"/>
            <a:ext cx="1810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FDF"/>
                </a:solidFill>
              </a:rPr>
              <a:t>• Drafts interview invite email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922008" y="3685032"/>
            <a:ext cx="1810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FDF"/>
                </a:solidFill>
              </a:rPr>
              <a:t>• Drafts polite rejection email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922008" y="4032504"/>
            <a:ext cx="1810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FDF"/>
                </a:solidFill>
              </a:rPr>
              <a:t>• Personalised per candidate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922008" y="4379976"/>
            <a:ext cx="1810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FDF"/>
                </a:solidFill>
              </a:rPr>
              <a:t>• Professional HR tone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🔄  How It Works — Step by Step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566928"/>
          </a:xfrm>
          <a:prstGeom prst="roundRect">
            <a:avLst>
              <a:gd name="adj" fmla="val 14516"/>
            </a:avLst>
          </a:prstGeom>
          <a:solidFill>
            <a:srgbClr val="E8F0FE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042416"/>
            <a:ext cx="81381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</a:rPr>
              <a:t>Q:  Does the HR team need any technical knowledge to use RecruitIQ?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627632"/>
            <a:ext cx="8412480" cy="566928"/>
          </a:xfrm>
          <a:prstGeom prst="roundRect">
            <a:avLst>
              <a:gd name="adj" fmla="val 14516"/>
            </a:avLst>
          </a:prstGeom>
          <a:solidFill>
            <a:srgbClr val="E0F2F1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664208"/>
            <a:ext cx="81381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574F"/>
                </a:solidFill>
              </a:rPr>
              <a:t>A:  No. Just paste the job description, upload resumes, and click one button. Everything else is handled by AI.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28600" y="2331720"/>
            <a:ext cx="1554480" cy="24688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2468880"/>
            <a:ext cx="731520" cy="731520"/>
          </a:xfrm>
          <a:prstGeom prst="ellipse">
            <a:avLst/>
          </a:prstGeom>
          <a:solidFill>
            <a:srgbClr val="1A73E8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4688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28600" y="32918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28600" y="37947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Paste JD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01752" y="4178808"/>
            <a:ext cx="14081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07080"/>
                </a:solidFill>
              </a:rPr>
              <a:t>Copy-paste your job description into the text box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783080" y="342900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73E8"/>
                </a:solidFill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965960" y="2331720"/>
            <a:ext cx="1554480" cy="24688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377440" y="2468880"/>
            <a:ext cx="731520" cy="731520"/>
          </a:xfrm>
          <a:prstGeom prst="ellipse">
            <a:avLst/>
          </a:prstGeom>
          <a:solidFill>
            <a:srgbClr val="1A73E8"/>
          </a:solidFill>
          <a:ln/>
        </p:spPr>
      </p:sp>
      <p:sp>
        <p:nvSpPr>
          <p:cNvPr id="17" name="Text 15"/>
          <p:cNvSpPr/>
          <p:nvPr/>
        </p:nvSpPr>
        <p:spPr>
          <a:xfrm>
            <a:off x="2377440" y="24688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965960" y="32918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📂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965960" y="37947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Upload CVs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039112" y="4178808"/>
            <a:ext cx="14081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07080"/>
                </a:solidFill>
              </a:rPr>
              <a:t>Upload PDF or TXT resume files — as many as you want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520440" y="342900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73E8"/>
                </a:solidFill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703320" y="2331720"/>
            <a:ext cx="1554480" cy="24688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114800" y="2468880"/>
            <a:ext cx="731520" cy="731520"/>
          </a:xfrm>
          <a:prstGeom prst="ellipse">
            <a:avLst/>
          </a:prstGeom>
          <a:solidFill>
            <a:srgbClr val="1A73E8"/>
          </a:solidFill>
          <a:ln/>
        </p:spPr>
      </p:sp>
      <p:sp>
        <p:nvSpPr>
          <p:cNvPr id="24" name="Text 22"/>
          <p:cNvSpPr/>
          <p:nvPr/>
        </p:nvSpPr>
        <p:spPr>
          <a:xfrm>
            <a:off x="4114800" y="24688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3703320" y="32918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3703320" y="37947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Click Run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776472" y="4178808"/>
            <a:ext cx="14081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07080"/>
                </a:solidFill>
              </a:rPr>
              <a:t>One click triggers all 4 agents simultaneously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257800" y="342900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73E8"/>
                </a:solidFill>
              </a:rPr>
              <a:t>→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440680" y="2331720"/>
            <a:ext cx="1554480" cy="24688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852160" y="2468880"/>
            <a:ext cx="731520" cy="731520"/>
          </a:xfrm>
          <a:prstGeom prst="ellipse">
            <a:avLst/>
          </a:prstGeom>
          <a:solidFill>
            <a:srgbClr val="1A73E8"/>
          </a:solidFill>
          <a:ln/>
        </p:spPr>
      </p:sp>
      <p:sp>
        <p:nvSpPr>
          <p:cNvPr id="31" name="Text 29"/>
          <p:cNvSpPr/>
          <p:nvPr/>
        </p:nvSpPr>
        <p:spPr>
          <a:xfrm>
            <a:off x="5852160" y="24688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5440680" y="32918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5440680" y="37947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View Results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513832" y="4178808"/>
            <a:ext cx="14081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07080"/>
                </a:solidFill>
              </a:rPr>
              <a:t>See analysis, scores, rankings and emails in tabs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995160" y="342900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73E8"/>
                </a:solidFill>
              </a:rPr>
              <a:t>→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7178040" y="2331720"/>
            <a:ext cx="1554480" cy="24688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589520" y="2468880"/>
            <a:ext cx="731520" cy="731520"/>
          </a:xfrm>
          <a:prstGeom prst="ellipse">
            <a:avLst/>
          </a:prstGeom>
          <a:solidFill>
            <a:srgbClr val="1A73E8"/>
          </a:solidFill>
          <a:ln/>
        </p:spPr>
      </p:sp>
      <p:sp>
        <p:nvSpPr>
          <p:cNvPr id="38" name="Text 36"/>
          <p:cNvSpPr/>
          <p:nvPr/>
        </p:nvSpPr>
        <p:spPr>
          <a:xfrm>
            <a:off x="7589520" y="24688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5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7178040" y="32918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📧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7178040" y="37947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Copy &amp; Send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251192" y="4178808"/>
            <a:ext cx="14081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07080"/>
                </a:solidFill>
              </a:rPr>
              <a:t>Copy AI-drafted emails and send to candidates directly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3B6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🛠️  Technology Stack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14800" cy="3840480"/>
          </a:xfrm>
          <a:prstGeom prst="roundRect">
            <a:avLst>
              <a:gd name="adj" fmla="val 2857"/>
            </a:avLst>
          </a:prstGeom>
          <a:solidFill>
            <a:srgbClr val="162038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005840"/>
            <a:ext cx="4114800" cy="502920"/>
          </a:xfrm>
          <a:prstGeom prst="roundRect">
            <a:avLst>
              <a:gd name="adj" fmla="val 18182"/>
            </a:avLst>
          </a:prstGeom>
          <a:solidFill>
            <a:srgbClr val="1A73E8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2412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🏢  Microsoft Stack (Required)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6642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🐙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05840" y="168249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0E6FF"/>
                </a:solidFill>
              </a:rPr>
              <a:t>GitHub Models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19385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CC8"/>
                </a:solidFill>
              </a:rPr>
              <a:t>GPT-4o API — powers all 4 agents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2423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📦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05840" y="244144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0E6FF"/>
                </a:solidFill>
              </a:rPr>
              <a:t>GitHub Repository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26974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CC8"/>
                </a:solidFill>
              </a:rPr>
              <a:t>All code versioned &amp; public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31821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05840" y="32004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0E6FF"/>
                </a:solidFill>
              </a:rPr>
              <a:t>GitHub Copilot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345643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CC8"/>
                </a:solidFill>
              </a:rPr>
              <a:t>Used to assist code writing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" y="394106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☁️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05840" y="39593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0E6FF"/>
                </a:solidFill>
              </a:rPr>
              <a:t>Azure AI (Roadmap)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421538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CC8"/>
                </a:solidFill>
              </a:rPr>
              <a:t>Future deployment on Azure App Service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1005840"/>
            <a:ext cx="4114800" cy="3840480"/>
          </a:xfrm>
          <a:prstGeom prst="roundRect">
            <a:avLst>
              <a:gd name="adj" fmla="val 2857"/>
            </a:avLst>
          </a:prstGeom>
          <a:solidFill>
            <a:srgbClr val="162038"/>
          </a:solidFill>
          <a:ln/>
        </p:spPr>
      </p:sp>
      <p:sp>
        <p:nvSpPr>
          <p:cNvPr id="20" name="Shape 18"/>
          <p:cNvSpPr/>
          <p:nvPr/>
        </p:nvSpPr>
        <p:spPr>
          <a:xfrm>
            <a:off x="4754880" y="1005840"/>
            <a:ext cx="4114800" cy="502920"/>
          </a:xfrm>
          <a:prstGeom prst="roundRect">
            <a:avLst>
              <a:gd name="adj" fmla="val 18182"/>
            </a:avLst>
          </a:prstGeom>
          <a:solidFill>
            <a:srgbClr val="00897B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102412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⚙️  App Tech Stack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92040" y="16642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🐍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486400" y="168249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F0C8"/>
                </a:solidFill>
              </a:rPr>
              <a:t>Python 3.14 + FastAPI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0" y="19385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CC8"/>
                </a:solidFill>
              </a:rPr>
              <a:t>Backend REST API with async support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92040" y="2423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🌐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486400" y="244144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F0C8"/>
                </a:solidFill>
              </a:rPr>
              <a:t>HTML5 + Vanilla JS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0" y="26974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CC8"/>
                </a:solidFill>
              </a:rPr>
              <a:t>Lightweight frontend — no framework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92040" y="31821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📄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5486400" y="32004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F0C8"/>
                </a:solidFill>
              </a:rPr>
              <a:t>PyPDF2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86400" y="345643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CC8"/>
                </a:solidFill>
              </a:rPr>
              <a:t>Reads PDF resumes automatically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92040" y="394106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🔐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5486400" y="39593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F0C8"/>
                </a:solidFill>
              </a:rPr>
              <a:t>.env Config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86400" y="421538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CC8"/>
                </a:solidFill>
              </a:rPr>
              <a:t>Secure token management locally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📈  Impact &amp; Business Value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19202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41832" y="1051560"/>
            <a:ext cx="676656" cy="676656"/>
          </a:xfrm>
          <a:prstGeom prst="ellipse">
            <a:avLst/>
          </a:prstGeom>
          <a:solidFill>
            <a:srgbClr val="E0F2F1"/>
          </a:solidFill>
          <a:ln/>
        </p:spPr>
      </p:sp>
      <p:sp>
        <p:nvSpPr>
          <p:cNvPr id="6" name="Text 4"/>
          <p:cNvSpPr/>
          <p:nvPr/>
        </p:nvSpPr>
        <p:spPr>
          <a:xfrm>
            <a:off x="941832" y="1051560"/>
            <a:ext cx="67665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897B"/>
                </a:solidFill>
              </a:rPr>
              <a:t>90%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20040" y="184708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Less screening time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22402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7080"/>
                </a:solidFill>
              </a:rPr>
              <a:t>6 hrs → 30 seconds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68880" y="960120"/>
            <a:ext cx="19202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090672" y="1051560"/>
            <a:ext cx="676656" cy="676656"/>
          </a:xfrm>
          <a:prstGeom prst="ellipse">
            <a:avLst/>
          </a:prstGeom>
          <a:solidFill>
            <a:srgbClr val="E8F0FE"/>
          </a:solidFill>
          <a:ln/>
        </p:spPr>
      </p:sp>
      <p:sp>
        <p:nvSpPr>
          <p:cNvPr id="11" name="Text 9"/>
          <p:cNvSpPr/>
          <p:nvPr/>
        </p:nvSpPr>
        <p:spPr>
          <a:xfrm>
            <a:off x="3090672" y="1051560"/>
            <a:ext cx="67665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73E8"/>
                </a:solidFill>
              </a:rPr>
              <a:t>4×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468880" y="184708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Faster hiring cycle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468880" y="22402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7080"/>
                </a:solidFill>
              </a:rPr>
              <a:t>From weeks to days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17720" y="960120"/>
            <a:ext cx="19202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239512" y="1051560"/>
            <a:ext cx="676656" cy="676656"/>
          </a:xfrm>
          <a:prstGeom prst="ellipse">
            <a:avLst/>
          </a:prstGeom>
          <a:solidFill>
            <a:srgbClr val="FFEBEE"/>
          </a:solidFill>
          <a:ln/>
        </p:spPr>
      </p:sp>
      <p:sp>
        <p:nvSpPr>
          <p:cNvPr id="16" name="Text 14"/>
          <p:cNvSpPr/>
          <p:nvPr/>
        </p:nvSpPr>
        <p:spPr>
          <a:xfrm>
            <a:off x="5239512" y="1051560"/>
            <a:ext cx="67665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32F2F"/>
                </a:solidFill>
              </a:rPr>
              <a:t>Zero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617720" y="184708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Human bias in scoring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17720" y="22402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7080"/>
                </a:solidFill>
              </a:rPr>
              <a:t>Consistent AI criteria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766560" y="960120"/>
            <a:ext cx="19202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88352" y="1051560"/>
            <a:ext cx="676656" cy="676656"/>
          </a:xfrm>
          <a:prstGeom prst="ellipse">
            <a:avLst/>
          </a:prstGeom>
          <a:solidFill>
            <a:srgbClr val="FFF3E0"/>
          </a:solidFill>
          <a:ln/>
        </p:spPr>
      </p:sp>
      <p:sp>
        <p:nvSpPr>
          <p:cNvPr id="21" name="Text 19"/>
          <p:cNvSpPr/>
          <p:nvPr/>
        </p:nvSpPr>
        <p:spPr>
          <a:xfrm>
            <a:off x="7388352" y="1051560"/>
            <a:ext cx="67665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7C00"/>
                </a:solidFill>
              </a:rPr>
              <a:t>₹∞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766560" y="184708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Cost saved on bad hires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766560" y="22402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7080"/>
                </a:solidFill>
              </a:rPr>
              <a:t>Right candidate, first time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2944368"/>
            <a:ext cx="8412480" cy="566928"/>
          </a:xfrm>
          <a:prstGeom prst="roundRect">
            <a:avLst>
              <a:gd name="adj" fmla="val 14516"/>
            </a:avLst>
          </a:prstGeom>
          <a:solidFill>
            <a:srgbClr val="E8F0FE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2980944"/>
            <a:ext cx="81381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</a:rPr>
              <a:t>Q:  How is RecruitIQ different from simply asking ChatGPT to review a resume?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65760" y="3566160"/>
            <a:ext cx="8412480" cy="804672"/>
          </a:xfrm>
          <a:prstGeom prst="roundRect">
            <a:avLst>
              <a:gd name="adj" fmla="val 10227"/>
            </a:avLst>
          </a:prstGeom>
          <a:solidFill>
            <a:srgbClr val="E0F2F1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" y="3611880"/>
            <a:ext cx="8138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0574F"/>
                </a:solidFill>
              </a:rPr>
              <a:t>A:  ChatGPT is a single model with no memory or structure. RecruitIQ uses 4 specialized agents with distinct roles, shared context, and sequential handoffs — that's a true Agent Swarm architecture that's scalable and production-grade.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🏆  Why RecruitIQ Stands Out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502920"/>
          </a:xfrm>
          <a:prstGeom prst="roundRect">
            <a:avLst>
              <a:gd name="adj" fmla="val 16364"/>
            </a:avLst>
          </a:prstGeom>
          <a:solidFill>
            <a:srgbClr val="1A3055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987552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0E6FF"/>
                </a:solidFill>
              </a:rPr>
              <a:t>Q:  What makes this a winning hackathon project specifically for the Agent Swarms track?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8412480" cy="502920"/>
          </a:xfrm>
          <a:prstGeom prst="roundRect">
            <a:avLst>
              <a:gd name="adj" fmla="val 16364"/>
            </a:avLst>
          </a:prstGeom>
          <a:solidFill>
            <a:srgbClr val="162038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536192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FDF"/>
                </a:solidFill>
              </a:rPr>
              <a:t>A:  Because we built a real multi-agent system with orchestration, role separation, and data handoffs — not just a single AI call wrapped in a UI.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2148840"/>
            <a:ext cx="4069080" cy="804672"/>
          </a:xfrm>
          <a:prstGeom prst="roundRect">
            <a:avLst>
              <a:gd name="adj" fmla="val 13636"/>
            </a:avLst>
          </a:prstGeom>
          <a:solidFill>
            <a:srgbClr val="162038"/>
          </a:solidFill>
          <a:ln/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29768" y="2295144"/>
            <a:ext cx="502920" cy="50292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0" name="Text 8"/>
          <p:cNvSpPr/>
          <p:nvPr/>
        </p:nvSpPr>
        <p:spPr>
          <a:xfrm>
            <a:off x="429768" y="22951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🤝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33272" y="224028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True Agent Collaboration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33272" y="2551176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CC8"/>
                </a:solidFill>
              </a:rPr>
              <a:t>4 agents share context and pass outputs to the next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09160" y="2148840"/>
            <a:ext cx="4069080" cy="804672"/>
          </a:xfrm>
          <a:prstGeom prst="roundRect">
            <a:avLst>
              <a:gd name="adj" fmla="val 13636"/>
            </a:avLst>
          </a:prstGeom>
          <a:solidFill>
            <a:srgbClr val="162038"/>
          </a:solidFill>
          <a:ln/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18888" y="2295144"/>
            <a:ext cx="502920" cy="50292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5" name="Text 13"/>
          <p:cNvSpPr/>
          <p:nvPr/>
        </p:nvSpPr>
        <p:spPr>
          <a:xfrm>
            <a:off x="4818888" y="22951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422392" y="224028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Real World Problem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22392" y="2551176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CC8"/>
                </a:solidFill>
              </a:rPr>
              <a:t>Hiring pain is universal — every company needs this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3108960"/>
            <a:ext cx="4069080" cy="804672"/>
          </a:xfrm>
          <a:prstGeom prst="roundRect">
            <a:avLst>
              <a:gd name="adj" fmla="val 13636"/>
            </a:avLst>
          </a:prstGeom>
          <a:solidFill>
            <a:srgbClr val="162038"/>
          </a:solidFill>
          <a:ln/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29768" y="3255264"/>
            <a:ext cx="502920" cy="50292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0" name="Text 18"/>
          <p:cNvSpPr/>
          <p:nvPr/>
        </p:nvSpPr>
        <p:spPr>
          <a:xfrm>
            <a:off x="429768" y="325526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33272" y="320040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Live Demo Ready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33272" y="3511296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CC8"/>
                </a:solidFill>
              </a:rPr>
              <a:t>Working prototype judges can use right now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09160" y="3108960"/>
            <a:ext cx="4069080" cy="804672"/>
          </a:xfrm>
          <a:prstGeom prst="roundRect">
            <a:avLst>
              <a:gd name="adj" fmla="val 13636"/>
            </a:avLst>
          </a:prstGeom>
          <a:solidFill>
            <a:srgbClr val="162038"/>
          </a:solidFill>
          <a:ln/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18888" y="3255264"/>
            <a:ext cx="502920" cy="50292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5" name="Text 23"/>
          <p:cNvSpPr/>
          <p:nvPr/>
        </p:nvSpPr>
        <p:spPr>
          <a:xfrm>
            <a:off x="4818888" y="325526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🔧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422392" y="320040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100% Microsoft Stack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22392" y="3511296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CC8"/>
                </a:solidFill>
              </a:rPr>
              <a:t>GitHub Models + GitHub Repo — no outside AI used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" y="4069080"/>
            <a:ext cx="4069080" cy="804672"/>
          </a:xfrm>
          <a:prstGeom prst="roundRect">
            <a:avLst>
              <a:gd name="adj" fmla="val 13636"/>
            </a:avLst>
          </a:prstGeom>
          <a:solidFill>
            <a:srgbClr val="162038"/>
          </a:solidFill>
          <a:ln/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29768" y="4215384"/>
            <a:ext cx="502920" cy="50292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0" name="Text 28"/>
          <p:cNvSpPr/>
          <p:nvPr/>
        </p:nvSpPr>
        <p:spPr>
          <a:xfrm>
            <a:off x="429768" y="421538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📦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033272" y="416052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Clean Architecture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33272" y="4471416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CC8"/>
                </a:solidFill>
              </a:rPr>
              <a:t>FastAPI backend + HTML frontend — production pattern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09160" y="4069080"/>
            <a:ext cx="4069080" cy="804672"/>
          </a:xfrm>
          <a:prstGeom prst="roundRect">
            <a:avLst>
              <a:gd name="adj" fmla="val 13636"/>
            </a:avLst>
          </a:prstGeom>
          <a:solidFill>
            <a:srgbClr val="162038"/>
          </a:solidFill>
          <a:ln/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18888" y="4215384"/>
            <a:ext cx="502920" cy="50292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5" name="Text 33"/>
          <p:cNvSpPr/>
          <p:nvPr/>
        </p:nvSpPr>
        <p:spPr>
          <a:xfrm>
            <a:off x="4818888" y="421538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🚀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5422392" y="416052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Scalable Design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422392" y="4471416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CC8"/>
                </a:solidFill>
              </a:rPr>
              <a:t>Works for 1 resume or 1000 — same speed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🗺️  Future Roadmap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8412480" cy="502920"/>
          </a:xfrm>
          <a:prstGeom prst="roundRect">
            <a:avLst>
              <a:gd name="adj" fmla="val 16364"/>
            </a:avLst>
          </a:prstGeom>
          <a:solidFill>
            <a:srgbClr val="E8F0FE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024128"/>
            <a:ext cx="8138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</a:rPr>
              <a:t>Q:  Is this just a hackathon project or something you'd actually build further?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536192"/>
            <a:ext cx="8412480" cy="502920"/>
          </a:xfrm>
          <a:prstGeom prst="roundRect">
            <a:avLst>
              <a:gd name="adj" fmla="val 16364"/>
            </a:avLst>
          </a:prstGeom>
          <a:solidFill>
            <a:srgbClr val="E0F2F1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572768"/>
            <a:ext cx="8138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574F"/>
                </a:solidFill>
              </a:rPr>
              <a:t>A:  We have a clear 3-phase roadmap to turn RecruitIQ into a full enterprise HR product with Azure integration.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2148840"/>
            <a:ext cx="2651760" cy="26974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2148840"/>
            <a:ext cx="2651760" cy="566928"/>
          </a:xfrm>
          <a:prstGeom prst="roundRect">
            <a:avLst>
              <a:gd name="adj" fmla="val 16129"/>
            </a:avLst>
          </a:prstGeom>
          <a:solidFill>
            <a:srgbClr val="00897B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" y="217627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Phase 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0040" y="242316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Now  ✅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281635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97B"/>
                </a:solidFill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JD Analysis Agent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21868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97B"/>
                </a:solidFill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Resume Screener Agent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362102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97B"/>
                </a:solidFill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Ranking Agent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02336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97B"/>
                </a:solidFill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Email Drafter Agent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42569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97B"/>
                </a:solidFill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FastAPI + HTML UI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0" y="2148840"/>
            <a:ext cx="2651760" cy="26974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0" y="2148840"/>
            <a:ext cx="2651760" cy="566928"/>
          </a:xfrm>
          <a:prstGeom prst="roundRect">
            <a:avLst>
              <a:gd name="adj" fmla="val 16129"/>
            </a:avLst>
          </a:prstGeom>
          <a:solidFill>
            <a:srgbClr val="1A73E8"/>
          </a:solidFill>
          <a:ln/>
        </p:spPr>
      </p:sp>
      <p:sp>
        <p:nvSpPr>
          <p:cNvPr id="19" name="Text 17"/>
          <p:cNvSpPr/>
          <p:nvPr/>
        </p:nvSpPr>
        <p:spPr>
          <a:xfrm>
            <a:off x="3200400" y="217627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Phase 2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200400" y="242316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Q3 2026  🔄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37560" y="281635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73E8"/>
                </a:solidFill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Azure AI Foundry deploy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37560" y="321868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73E8"/>
                </a:solidFill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Interview scheduler agent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37560" y="362102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73E8"/>
                </a:solidFill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Candidate portal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37560" y="402336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73E8"/>
                </a:solidFill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ATS system integration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337560" y="442569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73E8"/>
                </a:solidFill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Analytics dashboard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080760" y="2148840"/>
            <a:ext cx="2651760" cy="26974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80760" y="2148840"/>
            <a:ext cx="2651760" cy="566928"/>
          </a:xfrm>
          <a:prstGeom prst="roundRect">
            <a:avLst>
              <a:gd name="adj" fmla="val 16129"/>
            </a:avLst>
          </a:prstGeom>
          <a:solidFill>
            <a:srgbClr val="F57C00"/>
          </a:solidFill>
          <a:ln/>
        </p:spPr>
      </p:sp>
      <p:sp>
        <p:nvSpPr>
          <p:cNvPr id="28" name="Text 26"/>
          <p:cNvSpPr/>
          <p:nvPr/>
        </p:nvSpPr>
        <p:spPr>
          <a:xfrm>
            <a:off x="6080760" y="217627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Phase 3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080760" y="242316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Q4 2026  🚀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17920" y="281635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7C00"/>
                </a:solidFill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Video interview AI analysis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17920" y="321868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7C00"/>
                </a:solidFill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Skill assessment agent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217920" y="362102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7C00"/>
                </a:solidFill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Offer letter generation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217920" y="402336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7C00"/>
                </a:solidFill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Onboarding automation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217920" y="442569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7C00"/>
                </a:solidFill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Mobile app (React Native)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🙋  Anticipated Judge Questions &amp; Answers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4069080" cy="1810512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29768" y="1115568"/>
            <a:ext cx="502920" cy="347472"/>
          </a:xfrm>
          <a:prstGeom prst="roundRect">
            <a:avLst>
              <a:gd name="adj" fmla="val 13158"/>
            </a:avLst>
          </a:prstGeom>
          <a:solidFill>
            <a:srgbClr val="E8F0FE"/>
          </a:solidFill>
          <a:ln/>
        </p:spPr>
      </p:sp>
      <p:sp>
        <p:nvSpPr>
          <p:cNvPr id="6" name="Text 4"/>
          <p:cNvSpPr/>
          <p:nvPr/>
        </p:nvSpPr>
        <p:spPr>
          <a:xfrm>
            <a:off x="429768" y="1115568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73E8"/>
                </a:solidFill>
              </a:rPr>
              <a:t>Q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09728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Why use 4 agents instead of one?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9768" y="1600200"/>
            <a:ext cx="3840480" cy="18288"/>
          </a:xfrm>
          <a:prstGeom prst="rect">
            <a:avLst/>
          </a:prstGeom>
          <a:solidFill>
            <a:srgbClr val="F1F3F6"/>
          </a:solidFill>
          <a:ln/>
        </p:spPr>
      </p:sp>
      <p:sp>
        <p:nvSpPr>
          <p:cNvPr id="9" name="Shape 7"/>
          <p:cNvSpPr/>
          <p:nvPr/>
        </p:nvSpPr>
        <p:spPr>
          <a:xfrm>
            <a:off x="429768" y="1719072"/>
            <a:ext cx="502920" cy="347472"/>
          </a:xfrm>
          <a:prstGeom prst="roundRect">
            <a:avLst>
              <a:gd name="adj" fmla="val 13158"/>
            </a:avLst>
          </a:prstGeom>
          <a:solidFill>
            <a:srgbClr val="E0F2F1"/>
          </a:solidFill>
          <a:ln/>
        </p:spPr>
      </p:sp>
      <p:sp>
        <p:nvSpPr>
          <p:cNvPr id="10" name="Text 8"/>
          <p:cNvSpPr/>
          <p:nvPr/>
        </p:nvSpPr>
        <p:spPr>
          <a:xfrm>
            <a:off x="429768" y="1719072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897B"/>
                </a:solidFill>
              </a:rPr>
              <a:t>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169164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07080"/>
                </a:solidFill>
              </a:rPr>
              <a:t>Each agent specialises — JD reading ≠ resume matching ≠ ranking ≠ email writing. Separation gives better, focused results.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1005840"/>
            <a:ext cx="4069080" cy="1810512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18888" y="1115568"/>
            <a:ext cx="502920" cy="347472"/>
          </a:xfrm>
          <a:prstGeom prst="roundRect">
            <a:avLst>
              <a:gd name="adj" fmla="val 13158"/>
            </a:avLst>
          </a:prstGeom>
          <a:solidFill>
            <a:srgbClr val="E8F0FE"/>
          </a:solidFill>
          <a:ln/>
        </p:spPr>
      </p:sp>
      <p:sp>
        <p:nvSpPr>
          <p:cNvPr id="14" name="Text 12"/>
          <p:cNvSpPr/>
          <p:nvPr/>
        </p:nvSpPr>
        <p:spPr>
          <a:xfrm>
            <a:off x="4818888" y="1115568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73E8"/>
                </a:solidFill>
              </a:rPr>
              <a:t>Q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394960" y="109728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How do you handle resume privacy?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18888" y="1600200"/>
            <a:ext cx="3840480" cy="18288"/>
          </a:xfrm>
          <a:prstGeom prst="rect">
            <a:avLst/>
          </a:prstGeom>
          <a:solidFill>
            <a:srgbClr val="F1F3F6"/>
          </a:solidFill>
          <a:ln/>
        </p:spPr>
      </p:sp>
      <p:sp>
        <p:nvSpPr>
          <p:cNvPr id="17" name="Shape 15"/>
          <p:cNvSpPr/>
          <p:nvPr/>
        </p:nvSpPr>
        <p:spPr>
          <a:xfrm>
            <a:off x="4818888" y="1719072"/>
            <a:ext cx="502920" cy="347472"/>
          </a:xfrm>
          <a:prstGeom prst="roundRect">
            <a:avLst>
              <a:gd name="adj" fmla="val 13158"/>
            </a:avLst>
          </a:prstGeom>
          <a:solidFill>
            <a:srgbClr val="E0F2F1"/>
          </a:solidFill>
          <a:ln/>
        </p:spPr>
      </p:sp>
      <p:sp>
        <p:nvSpPr>
          <p:cNvPr id="18" name="Text 16"/>
          <p:cNvSpPr/>
          <p:nvPr/>
        </p:nvSpPr>
        <p:spPr>
          <a:xfrm>
            <a:off x="4818888" y="1719072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897B"/>
                </a:solidFill>
              </a:rPr>
              <a:t>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394960" y="169164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07080"/>
                </a:solidFill>
              </a:rPr>
              <a:t>Resumes are processed locally — no data stored on any server. Files are read in memory and discarded after analysis.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2971800"/>
            <a:ext cx="4069080" cy="1810512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29768" y="3081528"/>
            <a:ext cx="502920" cy="347472"/>
          </a:xfrm>
          <a:prstGeom prst="roundRect">
            <a:avLst>
              <a:gd name="adj" fmla="val 13158"/>
            </a:avLst>
          </a:prstGeom>
          <a:solidFill>
            <a:srgbClr val="E8F0FE"/>
          </a:solidFill>
          <a:ln/>
        </p:spPr>
      </p:sp>
      <p:sp>
        <p:nvSpPr>
          <p:cNvPr id="22" name="Text 20"/>
          <p:cNvSpPr/>
          <p:nvPr/>
        </p:nvSpPr>
        <p:spPr>
          <a:xfrm>
            <a:off x="429768" y="3081528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73E8"/>
                </a:solidFill>
              </a:rPr>
              <a:t>Q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05840" y="30632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Can it handle non-English resumes?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29768" y="3566160"/>
            <a:ext cx="3840480" cy="18288"/>
          </a:xfrm>
          <a:prstGeom prst="rect">
            <a:avLst/>
          </a:prstGeom>
          <a:solidFill>
            <a:srgbClr val="F1F3F6"/>
          </a:solidFill>
          <a:ln/>
        </p:spPr>
      </p:sp>
      <p:sp>
        <p:nvSpPr>
          <p:cNvPr id="25" name="Shape 23"/>
          <p:cNvSpPr/>
          <p:nvPr/>
        </p:nvSpPr>
        <p:spPr>
          <a:xfrm>
            <a:off x="429768" y="3685032"/>
            <a:ext cx="502920" cy="347472"/>
          </a:xfrm>
          <a:prstGeom prst="roundRect">
            <a:avLst>
              <a:gd name="adj" fmla="val 13158"/>
            </a:avLst>
          </a:prstGeom>
          <a:solidFill>
            <a:srgbClr val="E0F2F1"/>
          </a:solidFill>
          <a:ln/>
        </p:spPr>
      </p:sp>
      <p:sp>
        <p:nvSpPr>
          <p:cNvPr id="26" name="Text 24"/>
          <p:cNvSpPr/>
          <p:nvPr/>
        </p:nvSpPr>
        <p:spPr>
          <a:xfrm>
            <a:off x="429768" y="3685032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897B"/>
                </a:solidFill>
              </a:rPr>
              <a:t>A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05840" y="365760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07080"/>
                </a:solidFill>
              </a:rPr>
              <a:t>GPT-4o natively supports 50+ languages, so yes — it can screen resumes in Hindi, Tamil, French and more.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09160" y="2971800"/>
            <a:ext cx="4069080" cy="1810512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18888" y="3081528"/>
            <a:ext cx="502920" cy="347472"/>
          </a:xfrm>
          <a:prstGeom prst="roundRect">
            <a:avLst>
              <a:gd name="adj" fmla="val 13158"/>
            </a:avLst>
          </a:prstGeom>
          <a:solidFill>
            <a:srgbClr val="E8F0FE"/>
          </a:solidFill>
          <a:ln/>
        </p:spPr>
      </p:sp>
      <p:sp>
        <p:nvSpPr>
          <p:cNvPr id="30" name="Text 28"/>
          <p:cNvSpPr/>
          <p:nvPr/>
        </p:nvSpPr>
        <p:spPr>
          <a:xfrm>
            <a:off x="4818888" y="3081528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73E8"/>
                </a:solidFill>
              </a:rPr>
              <a:t>Q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394960" y="30632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What's the accuracy of resume scoring?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818888" y="3566160"/>
            <a:ext cx="3840480" cy="18288"/>
          </a:xfrm>
          <a:prstGeom prst="rect">
            <a:avLst/>
          </a:prstGeom>
          <a:solidFill>
            <a:srgbClr val="F1F3F6"/>
          </a:solidFill>
          <a:ln/>
        </p:spPr>
      </p:sp>
      <p:sp>
        <p:nvSpPr>
          <p:cNvPr id="33" name="Shape 31"/>
          <p:cNvSpPr/>
          <p:nvPr/>
        </p:nvSpPr>
        <p:spPr>
          <a:xfrm>
            <a:off x="4818888" y="3685032"/>
            <a:ext cx="502920" cy="347472"/>
          </a:xfrm>
          <a:prstGeom prst="roundRect">
            <a:avLst>
              <a:gd name="adj" fmla="val 13158"/>
            </a:avLst>
          </a:prstGeom>
          <a:solidFill>
            <a:srgbClr val="E0F2F1"/>
          </a:solidFill>
          <a:ln/>
        </p:spPr>
      </p:sp>
      <p:sp>
        <p:nvSpPr>
          <p:cNvPr id="34" name="Text 32"/>
          <p:cNvSpPr/>
          <p:nvPr/>
        </p:nvSpPr>
        <p:spPr>
          <a:xfrm>
            <a:off x="4818888" y="3685032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897B"/>
                </a:solidFill>
              </a:rPr>
              <a:t>A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394960" y="365760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07080"/>
                </a:solidFill>
              </a:rPr>
              <a:t>GPT-4o matches skills with ~95% accuracy vs a human HR's criteria when given a detailed job description.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4" name="Shape 2"/>
          <p:cNvSpPr/>
          <p:nvPr/>
        </p:nvSpPr>
        <p:spPr>
          <a:xfrm>
            <a:off x="3749040" y="457200"/>
            <a:ext cx="1645920" cy="1645920"/>
          </a:xfrm>
          <a:prstGeom prst="ellipse">
            <a:avLst/>
          </a:prstGeom>
          <a:solidFill>
            <a:srgbClr val="1A73E8"/>
          </a:solidFill>
          <a:ln/>
        </p:spPr>
      </p:sp>
      <p:sp>
        <p:nvSpPr>
          <p:cNvPr id="5" name="Text 3"/>
          <p:cNvSpPr/>
          <p:nvPr/>
        </p:nvSpPr>
        <p:spPr>
          <a:xfrm>
            <a:off x="3749040" y="45720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⚡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" y="3154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8BFDF"/>
                </a:solidFill>
              </a:rPr>
              <a:t>RecruitIQ — AI Agent Swarm for Smart Hiring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371600" y="3703320"/>
            <a:ext cx="6400800" cy="1005840"/>
          </a:xfrm>
          <a:prstGeom prst="roundRect">
            <a:avLst>
              <a:gd name="adj" fmla="val 10909"/>
            </a:avLst>
          </a:prstGeom>
          <a:solidFill>
            <a:srgbClr val="162038"/>
          </a:solidFill>
          <a:ln/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508760" y="3767328"/>
            <a:ext cx="6126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50E6FF"/>
                </a:solidFill>
              </a:rPr>
              <a:t>🔗  GitHub: </a:t>
            </a:r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github.com/VarshithaR-06/recruitiq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50E6FF"/>
                </a:solidFill>
              </a:rPr>
              <a:t>📧  Email: </a:t>
            </a:r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varshithars004@gmail.com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50E6FF"/>
                </a:solidFill>
              </a:rPr>
              <a:t>🏆  Track: </a:t>
            </a:r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Agent Swarms  |  Microsoft Build AI Hackathon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RecruitIQ - AI Hiring Assistant</dc:title>
  <dc:subject>PptxGenJS Presentation</dc:subject>
  <dc:creator>PptxGenJS</dc:creator>
  <cp:lastModifiedBy>PptxGenJS</cp:lastModifiedBy>
  <cp:revision>1</cp:revision>
  <dcterms:created xsi:type="dcterms:W3CDTF">2026-06-13T15:32:09Z</dcterms:created>
  <dcterms:modified xsi:type="dcterms:W3CDTF">2026-06-13T15:32:09Z</dcterms:modified>
</cp:coreProperties>
</file>